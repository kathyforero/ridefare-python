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Staatliches"/>
      <p:regular r:id="rId21"/>
    </p:embeddedFont>
    <p:embeddedFont>
      <p:font typeface="Poppi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oppins-regular.fntdata"/><Relationship Id="rId21" Type="http://schemas.openxmlformats.org/officeDocument/2006/relationships/font" Target="fonts/Staatliches-regular.fntdata"/><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90d248ca4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90d248ca4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3a0be534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3a0be534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3a0be534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3a0be534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39ac396cb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39ac396cb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39ac396cb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39ac396cb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39ac396cb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39ac396cb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39ac396cb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39ac396cb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39ac396cb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39ac396cb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39ac396cb_2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39ac396cb_2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39ac396cb_2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39ac396cb_2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39ac396cb_2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39ac396cb_2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39ac396cb_2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39ac396cb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39ac396cb_2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39ac396cb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39ac396cb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39ac396cb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157892"/>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latin typeface="Staatliches"/>
                <a:ea typeface="Staatliches"/>
                <a:cs typeface="Staatliches"/>
                <a:sym typeface="Staatliches"/>
              </a:rPr>
              <a:t>pROYECTO: rIDEfARE</a:t>
            </a:r>
            <a:endParaRPr>
              <a:latin typeface="Staatliches"/>
              <a:ea typeface="Staatliches"/>
              <a:cs typeface="Staatliches"/>
              <a:sym typeface="Staatliches"/>
            </a:endParaRPr>
          </a:p>
          <a:p>
            <a:pPr indent="0" lvl="0" marL="0" rtl="0" algn="ctr">
              <a:spcBef>
                <a:spcPts val="0"/>
              </a:spcBef>
              <a:spcAft>
                <a:spcPts val="0"/>
              </a:spcAft>
              <a:buNone/>
            </a:pPr>
            <a:r>
              <a:rPr lang="es-419" sz="3900">
                <a:solidFill>
                  <a:srgbClr val="1155CC"/>
                </a:solidFill>
                <a:latin typeface="Staatliches"/>
                <a:ea typeface="Staatliches"/>
                <a:cs typeface="Staatliches"/>
                <a:sym typeface="Staatliches"/>
              </a:rPr>
              <a:t>gRUPO # 3</a:t>
            </a:r>
            <a:endParaRPr sz="3900">
              <a:solidFill>
                <a:srgbClr val="1155CC"/>
              </a:solidFill>
              <a:latin typeface="Staatliches"/>
              <a:ea typeface="Staatliches"/>
              <a:cs typeface="Staatliches"/>
              <a:sym typeface="Staatliches"/>
            </a:endParaRPr>
          </a:p>
        </p:txBody>
      </p:sp>
      <p:sp>
        <p:nvSpPr>
          <p:cNvPr id="55" name="Google Shape;55;p13"/>
          <p:cNvSpPr txBox="1"/>
          <p:nvPr>
            <p:ph idx="1" type="subTitle"/>
          </p:nvPr>
        </p:nvSpPr>
        <p:spPr>
          <a:xfrm>
            <a:off x="812850" y="3327817"/>
            <a:ext cx="75183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b="1" lang="es-419" sz="1800">
                <a:latin typeface="Poppins"/>
                <a:ea typeface="Poppins"/>
                <a:cs typeface="Poppins"/>
                <a:sym typeface="Poppins"/>
              </a:rPr>
              <a:t>Integrantes: </a:t>
            </a:r>
            <a:r>
              <a:rPr lang="es-419" sz="1800">
                <a:latin typeface="Poppins"/>
                <a:ea typeface="Poppins"/>
                <a:cs typeface="Poppins"/>
                <a:sym typeface="Poppins"/>
              </a:rPr>
              <a:t>Katherine Forero, Kimberly Heredia, Erika Navas, Jairo Salvatierra, Fernando Larrosa, Henry León.</a:t>
            </a:r>
            <a:endParaRPr sz="1800">
              <a:latin typeface="Poppins"/>
              <a:ea typeface="Poppins"/>
              <a:cs typeface="Poppins"/>
              <a:sym typeface="Poppins"/>
            </a:endParaRPr>
          </a:p>
        </p:txBody>
      </p:sp>
      <p:pic>
        <p:nvPicPr>
          <p:cNvPr id="56" name="Google Shape;56;p13"/>
          <p:cNvPicPr preferRelativeResize="0"/>
          <p:nvPr/>
        </p:nvPicPr>
        <p:blipFill>
          <a:blip r:embed="rId3">
            <a:alphaModFix/>
          </a:blip>
          <a:stretch>
            <a:fillRect/>
          </a:stretch>
        </p:blipFill>
        <p:spPr>
          <a:xfrm>
            <a:off x="0" y="0"/>
            <a:ext cx="9144001" cy="888086"/>
          </a:xfrm>
          <a:prstGeom prst="rect">
            <a:avLst/>
          </a:prstGeom>
          <a:noFill/>
          <a:ln>
            <a:noFill/>
          </a:ln>
        </p:spPr>
      </p:pic>
      <p:pic>
        <p:nvPicPr>
          <p:cNvPr id="57" name="Google Shape;57;p13"/>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p:cNvPicPr preferRelativeResize="0"/>
          <p:nvPr/>
        </p:nvPicPr>
        <p:blipFill>
          <a:blip r:embed="rId3">
            <a:alphaModFix/>
          </a:blip>
          <a:stretch>
            <a:fillRect/>
          </a:stretch>
        </p:blipFill>
        <p:spPr>
          <a:xfrm>
            <a:off x="0" y="0"/>
            <a:ext cx="9144001" cy="888086"/>
          </a:xfrm>
          <a:prstGeom prst="rect">
            <a:avLst/>
          </a:prstGeom>
          <a:noFill/>
          <a:ln>
            <a:noFill/>
          </a:ln>
        </p:spPr>
      </p:pic>
      <p:pic>
        <p:nvPicPr>
          <p:cNvPr id="63" name="Google Shape;63;p14"/>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pic>
        <p:nvPicPr>
          <p:cNvPr id="64" name="Google Shape;64;p14"/>
          <p:cNvPicPr preferRelativeResize="0"/>
          <p:nvPr/>
        </p:nvPicPr>
        <p:blipFill rotWithShape="1">
          <a:blip r:embed="rId4">
            <a:alphaModFix/>
          </a:blip>
          <a:srcRect b="0" l="-452" r="0" t="0"/>
          <a:stretch/>
        </p:blipFill>
        <p:spPr>
          <a:xfrm>
            <a:off x="112150" y="1040475"/>
            <a:ext cx="8879449" cy="3072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ctrTitle"/>
          </p:nvPr>
        </p:nvSpPr>
        <p:spPr>
          <a:xfrm>
            <a:off x="268918" y="1125149"/>
            <a:ext cx="8520600" cy="679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sz="3200">
                <a:latin typeface="Staatliches"/>
                <a:ea typeface="Staatliches"/>
                <a:cs typeface="Staatliches"/>
                <a:sym typeface="Staatliches"/>
              </a:rPr>
              <a:t>Dataset </a:t>
            </a:r>
            <a:endParaRPr sz="3200">
              <a:solidFill>
                <a:srgbClr val="1155CC"/>
              </a:solidFill>
              <a:latin typeface="Staatliches"/>
              <a:ea typeface="Staatliches"/>
              <a:cs typeface="Staatliches"/>
              <a:sym typeface="Staatliches"/>
            </a:endParaRPr>
          </a:p>
        </p:txBody>
      </p:sp>
      <p:pic>
        <p:nvPicPr>
          <p:cNvPr id="70" name="Google Shape;70;p15"/>
          <p:cNvPicPr preferRelativeResize="0"/>
          <p:nvPr/>
        </p:nvPicPr>
        <p:blipFill>
          <a:blip r:embed="rId3">
            <a:alphaModFix/>
          </a:blip>
          <a:stretch>
            <a:fillRect/>
          </a:stretch>
        </p:blipFill>
        <p:spPr>
          <a:xfrm>
            <a:off x="0" y="0"/>
            <a:ext cx="9144001" cy="888086"/>
          </a:xfrm>
          <a:prstGeom prst="rect">
            <a:avLst/>
          </a:prstGeom>
          <a:noFill/>
          <a:ln>
            <a:noFill/>
          </a:ln>
        </p:spPr>
      </p:pic>
      <p:pic>
        <p:nvPicPr>
          <p:cNvPr id="71" name="Google Shape;71;p15"/>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
        <p:nvSpPr>
          <p:cNvPr id="72" name="Google Shape;72;p15"/>
          <p:cNvSpPr txBox="1"/>
          <p:nvPr>
            <p:ph type="ctrTitle"/>
          </p:nvPr>
        </p:nvSpPr>
        <p:spPr>
          <a:xfrm>
            <a:off x="311700" y="2531523"/>
            <a:ext cx="8520600" cy="573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sz="2400">
                <a:solidFill>
                  <a:srgbClr val="1155CC"/>
                </a:solidFill>
                <a:latin typeface="Staatliches"/>
                <a:ea typeface="Staatliches"/>
                <a:cs typeface="Staatliches"/>
                <a:sym typeface="Staatliches"/>
              </a:rPr>
              <a:t>los datasets son un conjunto de informacion organizada en forma sistematicaen formas de filas y </a:t>
            </a:r>
            <a:r>
              <a:rPr lang="es-419" sz="2400">
                <a:solidFill>
                  <a:srgbClr val="1155CC"/>
                </a:solidFill>
                <a:latin typeface="Staatliches"/>
                <a:ea typeface="Staatliches"/>
                <a:cs typeface="Staatliches"/>
                <a:sym typeface="Staatliches"/>
              </a:rPr>
              <a:t>columnas</a:t>
            </a:r>
            <a:r>
              <a:rPr lang="es-419" sz="2400">
                <a:solidFill>
                  <a:srgbClr val="1155CC"/>
                </a:solidFill>
                <a:latin typeface="Staatliches"/>
                <a:ea typeface="Staatliches"/>
                <a:cs typeface="Staatliches"/>
                <a:sym typeface="Staatliches"/>
              </a:rPr>
              <a:t> con la finalidad de poder informacion de analisis y toma de decisiones </a:t>
            </a:r>
            <a:endParaRPr sz="2400">
              <a:solidFill>
                <a:srgbClr val="1155CC"/>
              </a:solidFill>
              <a:latin typeface="Staatliches"/>
              <a:ea typeface="Staatliches"/>
              <a:cs typeface="Staatliches"/>
              <a:sym typeface="Staatliche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p:cNvPicPr preferRelativeResize="0"/>
          <p:nvPr/>
        </p:nvPicPr>
        <p:blipFill>
          <a:blip r:embed="rId3">
            <a:alphaModFix/>
          </a:blip>
          <a:stretch>
            <a:fillRect/>
          </a:stretch>
        </p:blipFill>
        <p:spPr>
          <a:xfrm>
            <a:off x="0" y="0"/>
            <a:ext cx="9144001" cy="888086"/>
          </a:xfrm>
          <a:prstGeom prst="rect">
            <a:avLst/>
          </a:prstGeom>
          <a:noFill/>
          <a:ln>
            <a:noFill/>
          </a:ln>
        </p:spPr>
      </p:pic>
      <p:pic>
        <p:nvPicPr>
          <p:cNvPr id="78" name="Google Shape;78;p16"/>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pic>
        <p:nvPicPr>
          <p:cNvPr id="79" name="Google Shape;79;p16"/>
          <p:cNvPicPr preferRelativeResize="0"/>
          <p:nvPr/>
        </p:nvPicPr>
        <p:blipFill>
          <a:blip r:embed="rId4">
            <a:alphaModFix/>
          </a:blip>
          <a:stretch>
            <a:fillRect/>
          </a:stretch>
        </p:blipFill>
        <p:spPr>
          <a:xfrm>
            <a:off x="152400" y="1040486"/>
            <a:ext cx="8839198" cy="341823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p:cNvPicPr preferRelativeResize="0"/>
          <p:nvPr/>
        </p:nvPicPr>
        <p:blipFill>
          <a:blip r:embed="rId3">
            <a:alphaModFix/>
          </a:blip>
          <a:stretch>
            <a:fillRect/>
          </a:stretch>
        </p:blipFill>
        <p:spPr>
          <a:xfrm>
            <a:off x="0" y="0"/>
            <a:ext cx="9144001" cy="888086"/>
          </a:xfrm>
          <a:prstGeom prst="rect">
            <a:avLst/>
          </a:prstGeom>
          <a:noFill/>
          <a:ln>
            <a:noFill/>
          </a:ln>
        </p:spPr>
      </p:pic>
      <p:pic>
        <p:nvPicPr>
          <p:cNvPr id="85" name="Google Shape;85;p17"/>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pic>
        <p:nvPicPr>
          <p:cNvPr id="86" name="Google Shape;86;p17"/>
          <p:cNvPicPr preferRelativeResize="0"/>
          <p:nvPr/>
        </p:nvPicPr>
        <p:blipFill>
          <a:blip r:embed="rId4">
            <a:alphaModFix/>
          </a:blip>
          <a:stretch>
            <a:fillRect/>
          </a:stretch>
        </p:blipFill>
        <p:spPr>
          <a:xfrm>
            <a:off x="152400" y="1040486"/>
            <a:ext cx="8839203" cy="340158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8"/>
          <p:cNvPicPr preferRelativeResize="0"/>
          <p:nvPr/>
        </p:nvPicPr>
        <p:blipFill>
          <a:blip r:embed="rId3">
            <a:alphaModFix/>
          </a:blip>
          <a:stretch>
            <a:fillRect/>
          </a:stretch>
        </p:blipFill>
        <p:spPr>
          <a:xfrm>
            <a:off x="0" y="0"/>
            <a:ext cx="9144001" cy="888086"/>
          </a:xfrm>
          <a:prstGeom prst="rect">
            <a:avLst/>
          </a:prstGeom>
          <a:noFill/>
          <a:ln>
            <a:noFill/>
          </a:ln>
        </p:spPr>
      </p:pic>
      <p:pic>
        <p:nvPicPr>
          <p:cNvPr id="92" name="Google Shape;92;p18"/>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pic>
        <p:nvPicPr>
          <p:cNvPr id="93" name="Google Shape;93;p18"/>
          <p:cNvPicPr preferRelativeResize="0"/>
          <p:nvPr/>
        </p:nvPicPr>
        <p:blipFill>
          <a:blip r:embed="rId4">
            <a:alphaModFix/>
          </a:blip>
          <a:stretch>
            <a:fillRect/>
          </a:stretch>
        </p:blipFill>
        <p:spPr>
          <a:xfrm>
            <a:off x="152400" y="1040486"/>
            <a:ext cx="8720029" cy="35550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561597"/>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latin typeface="Staatliches"/>
                <a:ea typeface="Staatliches"/>
                <a:cs typeface="Staatliches"/>
                <a:sym typeface="Staatliches"/>
              </a:rPr>
              <a:t>Insights</a:t>
            </a:r>
            <a:endParaRPr>
              <a:latin typeface="Staatliches"/>
              <a:ea typeface="Staatliches"/>
              <a:cs typeface="Staatliches"/>
              <a:sym typeface="Staatliches"/>
            </a:endParaRPr>
          </a:p>
          <a:p>
            <a:pPr indent="0" lvl="0" marL="0" rtl="0" algn="ctr">
              <a:spcBef>
                <a:spcPts val="0"/>
              </a:spcBef>
              <a:spcAft>
                <a:spcPts val="0"/>
              </a:spcAft>
              <a:buNone/>
            </a:pPr>
            <a:r>
              <a:rPr lang="es-419" sz="3900">
                <a:solidFill>
                  <a:srgbClr val="1155CC"/>
                </a:solidFill>
                <a:latin typeface="Staatliches"/>
                <a:ea typeface="Staatliches"/>
                <a:cs typeface="Staatliches"/>
                <a:sym typeface="Staatliches"/>
              </a:rPr>
              <a:t>encontrados</a:t>
            </a:r>
            <a:endParaRPr sz="3900">
              <a:solidFill>
                <a:srgbClr val="1155CC"/>
              </a:solidFill>
              <a:latin typeface="Staatliches"/>
              <a:ea typeface="Staatliches"/>
              <a:cs typeface="Staatliches"/>
              <a:sym typeface="Staatliches"/>
            </a:endParaRPr>
          </a:p>
        </p:txBody>
      </p:sp>
      <p:pic>
        <p:nvPicPr>
          <p:cNvPr id="99" name="Google Shape;99;p19"/>
          <p:cNvPicPr preferRelativeResize="0"/>
          <p:nvPr/>
        </p:nvPicPr>
        <p:blipFill>
          <a:blip r:embed="rId3">
            <a:alphaModFix/>
          </a:blip>
          <a:stretch>
            <a:fillRect/>
          </a:stretch>
        </p:blipFill>
        <p:spPr>
          <a:xfrm>
            <a:off x="0" y="0"/>
            <a:ext cx="9144001" cy="888086"/>
          </a:xfrm>
          <a:prstGeom prst="rect">
            <a:avLst/>
          </a:prstGeom>
          <a:noFill/>
          <a:ln>
            <a:noFill/>
          </a:ln>
        </p:spPr>
      </p:pic>
      <p:pic>
        <p:nvPicPr>
          <p:cNvPr id="100" name="Google Shape;100;p19"/>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20"/>
          <p:cNvPicPr preferRelativeResize="0"/>
          <p:nvPr/>
        </p:nvPicPr>
        <p:blipFill>
          <a:blip r:embed="rId3">
            <a:alphaModFix/>
          </a:blip>
          <a:stretch>
            <a:fillRect/>
          </a:stretch>
        </p:blipFill>
        <p:spPr>
          <a:xfrm>
            <a:off x="0" y="0"/>
            <a:ext cx="9144001" cy="888086"/>
          </a:xfrm>
          <a:prstGeom prst="rect">
            <a:avLst/>
          </a:prstGeom>
          <a:noFill/>
          <a:ln>
            <a:noFill/>
          </a:ln>
        </p:spPr>
      </p:pic>
      <p:pic>
        <p:nvPicPr>
          <p:cNvPr id="106" name="Google Shape;106;p20"/>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
        <p:nvSpPr>
          <p:cNvPr id="107" name="Google Shape;107;p20"/>
          <p:cNvSpPr txBox="1"/>
          <p:nvPr>
            <p:ph type="ctrTitle"/>
          </p:nvPr>
        </p:nvSpPr>
        <p:spPr>
          <a:xfrm>
            <a:off x="311700" y="864237"/>
            <a:ext cx="8520600" cy="7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sz="3400">
                <a:latin typeface="Staatliches"/>
                <a:ea typeface="Staatliches"/>
                <a:cs typeface="Staatliches"/>
                <a:sym typeface="Staatliches"/>
              </a:rPr>
              <a:t>Análisis de variación de precio por factores geográficos</a:t>
            </a:r>
            <a:endParaRPr sz="2700">
              <a:solidFill>
                <a:srgbClr val="1155CC"/>
              </a:solidFill>
              <a:latin typeface="Staatliches"/>
              <a:ea typeface="Staatliches"/>
              <a:cs typeface="Staatliches"/>
              <a:sym typeface="Staatliches"/>
            </a:endParaRPr>
          </a:p>
        </p:txBody>
      </p:sp>
      <p:sp>
        <p:nvSpPr>
          <p:cNvPr id="108" name="Google Shape;108;p20"/>
          <p:cNvSpPr txBox="1"/>
          <p:nvPr>
            <p:ph type="ctrTitle"/>
          </p:nvPr>
        </p:nvSpPr>
        <p:spPr>
          <a:xfrm>
            <a:off x="311700" y="1292184"/>
            <a:ext cx="4398300" cy="738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sz="2700">
                <a:solidFill>
                  <a:srgbClr val="1155CC"/>
                </a:solidFill>
                <a:latin typeface="Staatliches"/>
                <a:ea typeface="Staatliches"/>
                <a:cs typeface="Staatliches"/>
                <a:sym typeface="Staatliches"/>
              </a:rPr>
              <a:t>Visualizaciones y Hallazgos</a:t>
            </a:r>
            <a:endParaRPr sz="2700">
              <a:solidFill>
                <a:srgbClr val="1155CC"/>
              </a:solidFill>
              <a:latin typeface="Staatliches"/>
              <a:ea typeface="Staatliches"/>
              <a:cs typeface="Staatliches"/>
              <a:sym typeface="Staatliches"/>
            </a:endParaRPr>
          </a:p>
        </p:txBody>
      </p:sp>
      <p:pic>
        <p:nvPicPr>
          <p:cNvPr id="109" name="Google Shape;109;p20"/>
          <p:cNvPicPr preferRelativeResize="0"/>
          <p:nvPr/>
        </p:nvPicPr>
        <p:blipFill rotWithShape="1">
          <a:blip r:embed="rId4">
            <a:alphaModFix/>
          </a:blip>
          <a:srcRect b="0" l="0" r="0" t="931"/>
          <a:stretch/>
        </p:blipFill>
        <p:spPr>
          <a:xfrm>
            <a:off x="760275" y="2150700"/>
            <a:ext cx="3336600" cy="2437475"/>
          </a:xfrm>
          <a:prstGeom prst="rect">
            <a:avLst/>
          </a:prstGeom>
          <a:noFill/>
          <a:ln>
            <a:noFill/>
          </a:ln>
        </p:spPr>
      </p:pic>
      <p:pic>
        <p:nvPicPr>
          <p:cNvPr id="110" name="Google Shape;110;p20"/>
          <p:cNvPicPr preferRelativeResize="0"/>
          <p:nvPr/>
        </p:nvPicPr>
        <p:blipFill>
          <a:blip r:embed="rId5">
            <a:alphaModFix/>
          </a:blip>
          <a:stretch>
            <a:fillRect/>
          </a:stretch>
        </p:blipFill>
        <p:spPr>
          <a:xfrm>
            <a:off x="4571995" y="2150700"/>
            <a:ext cx="3395530" cy="2437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1"/>
          <p:cNvPicPr preferRelativeResize="0"/>
          <p:nvPr/>
        </p:nvPicPr>
        <p:blipFill>
          <a:blip r:embed="rId3">
            <a:alphaModFix/>
          </a:blip>
          <a:stretch>
            <a:fillRect/>
          </a:stretch>
        </p:blipFill>
        <p:spPr>
          <a:xfrm>
            <a:off x="0" y="0"/>
            <a:ext cx="9144001" cy="888086"/>
          </a:xfrm>
          <a:prstGeom prst="rect">
            <a:avLst/>
          </a:prstGeom>
          <a:noFill/>
          <a:ln>
            <a:noFill/>
          </a:ln>
        </p:spPr>
      </p:pic>
      <p:pic>
        <p:nvPicPr>
          <p:cNvPr id="116" name="Google Shape;116;p21"/>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
        <p:nvSpPr>
          <p:cNvPr id="117" name="Google Shape;117;p21"/>
          <p:cNvSpPr txBox="1"/>
          <p:nvPr>
            <p:ph type="ctrTitle"/>
          </p:nvPr>
        </p:nvSpPr>
        <p:spPr>
          <a:xfrm>
            <a:off x="311700" y="789477"/>
            <a:ext cx="8520600" cy="7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sz="3400">
                <a:latin typeface="Staatliches"/>
                <a:ea typeface="Staatliches"/>
                <a:cs typeface="Staatliches"/>
                <a:sym typeface="Staatliches"/>
              </a:rPr>
              <a:t>Análisis de variación de precio por factores geográficos</a:t>
            </a:r>
            <a:endParaRPr sz="2700">
              <a:solidFill>
                <a:srgbClr val="1155CC"/>
              </a:solidFill>
              <a:latin typeface="Staatliches"/>
              <a:ea typeface="Staatliches"/>
              <a:cs typeface="Staatliches"/>
              <a:sym typeface="Staatliches"/>
            </a:endParaRPr>
          </a:p>
        </p:txBody>
      </p:sp>
      <p:sp>
        <p:nvSpPr>
          <p:cNvPr id="118" name="Google Shape;118;p21"/>
          <p:cNvSpPr txBox="1"/>
          <p:nvPr>
            <p:ph idx="1" type="subTitle"/>
          </p:nvPr>
        </p:nvSpPr>
        <p:spPr>
          <a:xfrm>
            <a:off x="54613" y="4170475"/>
            <a:ext cx="9034800" cy="577500"/>
          </a:xfrm>
          <a:prstGeom prst="rect">
            <a:avLst/>
          </a:prstGeom>
        </p:spPr>
        <p:txBody>
          <a:bodyPr anchorCtr="0" anchor="t" bIns="91425" lIns="91425" spcFirstLastPara="1" rIns="91425" wrap="square" tIns="91425">
            <a:noAutofit/>
          </a:bodyPr>
          <a:lstStyle/>
          <a:p>
            <a:pPr indent="0" lvl="0" marL="179705" rtl="0" algn="l">
              <a:lnSpc>
                <a:spcPct val="115833"/>
              </a:lnSpc>
              <a:spcBef>
                <a:spcPts val="0"/>
              </a:spcBef>
              <a:spcAft>
                <a:spcPts val="800"/>
              </a:spcAft>
              <a:buClr>
                <a:schemeClr val="dk1"/>
              </a:buClr>
              <a:buSzPts val="770"/>
              <a:buFont typeface="Arial"/>
              <a:buNone/>
            </a:pPr>
            <a:r>
              <a:rPr lang="es-419" sz="1040">
                <a:latin typeface="Poppins"/>
                <a:ea typeface="Poppins"/>
                <a:cs typeface="Poppins"/>
                <a:sym typeface="Poppins"/>
              </a:rPr>
              <a:t>Al analizar los histogramas, podemos ver que la distancia de los viajes se concentran más entre 1 a 4 millas, por lo que viajes de más de eso son menos comunes. Así mismo en precio, se concentra en un rango de 0 y 30 dólares aproximadamente. </a:t>
            </a:r>
            <a:endParaRPr sz="1040">
              <a:latin typeface="Poppins"/>
              <a:ea typeface="Poppins"/>
              <a:cs typeface="Poppins"/>
              <a:sym typeface="Poppins"/>
            </a:endParaRPr>
          </a:p>
        </p:txBody>
      </p:sp>
      <p:pic>
        <p:nvPicPr>
          <p:cNvPr id="119" name="Google Shape;119;p21"/>
          <p:cNvPicPr preferRelativeResize="0"/>
          <p:nvPr/>
        </p:nvPicPr>
        <p:blipFill>
          <a:blip r:embed="rId4">
            <a:alphaModFix/>
          </a:blip>
          <a:stretch>
            <a:fillRect/>
          </a:stretch>
        </p:blipFill>
        <p:spPr>
          <a:xfrm>
            <a:off x="138888" y="1404470"/>
            <a:ext cx="8866226" cy="282907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p:cNvPicPr preferRelativeResize="0"/>
          <p:nvPr/>
        </p:nvPicPr>
        <p:blipFill>
          <a:blip r:embed="rId3">
            <a:alphaModFix/>
          </a:blip>
          <a:stretch>
            <a:fillRect/>
          </a:stretch>
        </p:blipFill>
        <p:spPr>
          <a:xfrm>
            <a:off x="0" y="0"/>
            <a:ext cx="9144001" cy="888086"/>
          </a:xfrm>
          <a:prstGeom prst="rect">
            <a:avLst/>
          </a:prstGeom>
          <a:noFill/>
          <a:ln>
            <a:noFill/>
          </a:ln>
        </p:spPr>
      </p:pic>
      <p:pic>
        <p:nvPicPr>
          <p:cNvPr id="125" name="Google Shape;125;p22"/>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
        <p:nvSpPr>
          <p:cNvPr id="126" name="Google Shape;126;p22"/>
          <p:cNvSpPr txBox="1"/>
          <p:nvPr>
            <p:ph type="ctrTitle"/>
          </p:nvPr>
        </p:nvSpPr>
        <p:spPr>
          <a:xfrm>
            <a:off x="311700" y="841809"/>
            <a:ext cx="8520600" cy="7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sz="3400">
                <a:latin typeface="Staatliches"/>
                <a:ea typeface="Staatliches"/>
                <a:cs typeface="Staatliches"/>
                <a:sym typeface="Staatliches"/>
              </a:rPr>
              <a:t>Análisis de variación de precio por factores geográficos</a:t>
            </a:r>
            <a:endParaRPr sz="2700">
              <a:solidFill>
                <a:srgbClr val="1155CC"/>
              </a:solidFill>
              <a:latin typeface="Staatliches"/>
              <a:ea typeface="Staatliches"/>
              <a:cs typeface="Staatliches"/>
              <a:sym typeface="Staatliches"/>
            </a:endParaRPr>
          </a:p>
        </p:txBody>
      </p:sp>
      <p:pic>
        <p:nvPicPr>
          <p:cNvPr id="127" name="Google Shape;127;p22"/>
          <p:cNvPicPr preferRelativeResize="0"/>
          <p:nvPr/>
        </p:nvPicPr>
        <p:blipFill>
          <a:blip r:embed="rId4">
            <a:alphaModFix/>
          </a:blip>
          <a:stretch>
            <a:fillRect/>
          </a:stretch>
        </p:blipFill>
        <p:spPr>
          <a:xfrm>
            <a:off x="174825" y="1475013"/>
            <a:ext cx="4575326" cy="2940225"/>
          </a:xfrm>
          <a:prstGeom prst="rect">
            <a:avLst/>
          </a:prstGeom>
          <a:noFill/>
          <a:ln>
            <a:noFill/>
          </a:ln>
        </p:spPr>
      </p:pic>
      <p:pic>
        <p:nvPicPr>
          <p:cNvPr id="128" name="Google Shape;128;p22"/>
          <p:cNvPicPr preferRelativeResize="0"/>
          <p:nvPr/>
        </p:nvPicPr>
        <p:blipFill>
          <a:blip r:embed="rId5">
            <a:alphaModFix/>
          </a:blip>
          <a:stretch>
            <a:fillRect/>
          </a:stretch>
        </p:blipFill>
        <p:spPr>
          <a:xfrm>
            <a:off x="4850225" y="3444726"/>
            <a:ext cx="2000250" cy="723900"/>
          </a:xfrm>
          <a:prstGeom prst="rect">
            <a:avLst/>
          </a:prstGeom>
          <a:noFill/>
          <a:ln>
            <a:noFill/>
          </a:ln>
        </p:spPr>
      </p:pic>
      <p:sp>
        <p:nvSpPr>
          <p:cNvPr id="129" name="Google Shape;129;p22"/>
          <p:cNvSpPr txBox="1"/>
          <p:nvPr/>
        </p:nvSpPr>
        <p:spPr>
          <a:xfrm>
            <a:off x="4750150" y="1580700"/>
            <a:ext cx="3777000" cy="1726800"/>
          </a:xfrm>
          <a:prstGeom prst="rect">
            <a:avLst/>
          </a:prstGeom>
          <a:noFill/>
          <a:ln>
            <a:noFill/>
          </a:ln>
        </p:spPr>
        <p:txBody>
          <a:bodyPr anchorCtr="0" anchor="t" bIns="91425" lIns="91425" spcFirstLastPara="1" rIns="91425" wrap="square" tIns="91425">
            <a:spAutoFit/>
          </a:bodyPr>
          <a:lstStyle/>
          <a:p>
            <a:pPr indent="-298450" lvl="0" marL="457200" rtl="0" algn="l">
              <a:lnSpc>
                <a:spcPct val="115833"/>
              </a:lnSpc>
              <a:spcBef>
                <a:spcPts val="0"/>
              </a:spcBef>
              <a:spcAft>
                <a:spcPts val="0"/>
              </a:spcAft>
              <a:buClr>
                <a:schemeClr val="dk2"/>
              </a:buClr>
              <a:buSzPts val="1100"/>
              <a:buFont typeface="Poppins"/>
              <a:buChar char="●"/>
            </a:pPr>
            <a:r>
              <a:rPr lang="es-419" sz="1100">
                <a:solidFill>
                  <a:schemeClr val="dk2"/>
                </a:solidFill>
                <a:latin typeface="Poppins"/>
                <a:ea typeface="Poppins"/>
                <a:cs typeface="Poppins"/>
                <a:sym typeface="Poppins"/>
              </a:rPr>
              <a:t>Al observar la gráfica de dispersión, como que de alguna manera si que hay una relación positiva inicialmente (si la distancia sube, el precio también y viceversa). Aunque hay puntos que se llegan a alejar bastante de la concentración de puntos, se ve que aunque no sea una relación muy definida, existe.</a:t>
            </a:r>
            <a:endParaRPr sz="1300">
              <a:solidFill>
                <a:schemeClr val="dk2"/>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3"/>
          <p:cNvPicPr preferRelativeResize="0"/>
          <p:nvPr/>
        </p:nvPicPr>
        <p:blipFill>
          <a:blip r:embed="rId3">
            <a:alphaModFix/>
          </a:blip>
          <a:stretch>
            <a:fillRect/>
          </a:stretch>
        </p:blipFill>
        <p:spPr>
          <a:xfrm>
            <a:off x="0" y="0"/>
            <a:ext cx="9144001" cy="888086"/>
          </a:xfrm>
          <a:prstGeom prst="rect">
            <a:avLst/>
          </a:prstGeom>
          <a:noFill/>
          <a:ln>
            <a:noFill/>
          </a:ln>
        </p:spPr>
      </p:pic>
      <p:pic>
        <p:nvPicPr>
          <p:cNvPr id="135" name="Google Shape;135;p23"/>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
        <p:nvSpPr>
          <p:cNvPr id="136" name="Google Shape;136;p23"/>
          <p:cNvSpPr txBox="1"/>
          <p:nvPr>
            <p:ph type="ctrTitle"/>
          </p:nvPr>
        </p:nvSpPr>
        <p:spPr>
          <a:xfrm>
            <a:off x="311700" y="841809"/>
            <a:ext cx="8520600" cy="7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sz="3400">
                <a:latin typeface="Staatliches"/>
                <a:ea typeface="Staatliches"/>
                <a:cs typeface="Staatliches"/>
                <a:sym typeface="Staatliches"/>
              </a:rPr>
              <a:t>Análisis de variación de precio por factores geográficos</a:t>
            </a:r>
            <a:endParaRPr sz="2700">
              <a:solidFill>
                <a:srgbClr val="1155CC"/>
              </a:solidFill>
              <a:latin typeface="Staatliches"/>
              <a:ea typeface="Staatliches"/>
              <a:cs typeface="Staatliches"/>
              <a:sym typeface="Staatliches"/>
            </a:endParaRPr>
          </a:p>
        </p:txBody>
      </p:sp>
      <p:pic>
        <p:nvPicPr>
          <p:cNvPr id="137" name="Google Shape;137;p23"/>
          <p:cNvPicPr preferRelativeResize="0"/>
          <p:nvPr/>
        </p:nvPicPr>
        <p:blipFill>
          <a:blip r:embed="rId4">
            <a:alphaModFix/>
          </a:blip>
          <a:stretch>
            <a:fillRect/>
          </a:stretch>
        </p:blipFill>
        <p:spPr>
          <a:xfrm>
            <a:off x="391625" y="1715268"/>
            <a:ext cx="5943600" cy="1066800"/>
          </a:xfrm>
          <a:prstGeom prst="rect">
            <a:avLst/>
          </a:prstGeom>
          <a:noFill/>
          <a:ln>
            <a:noFill/>
          </a:ln>
        </p:spPr>
      </p:pic>
      <p:pic>
        <p:nvPicPr>
          <p:cNvPr id="138" name="Google Shape;138;p23"/>
          <p:cNvPicPr preferRelativeResize="0"/>
          <p:nvPr/>
        </p:nvPicPr>
        <p:blipFill>
          <a:blip r:embed="rId5">
            <a:alphaModFix/>
          </a:blip>
          <a:stretch>
            <a:fillRect/>
          </a:stretch>
        </p:blipFill>
        <p:spPr>
          <a:xfrm>
            <a:off x="391625" y="2966268"/>
            <a:ext cx="5943600" cy="1228725"/>
          </a:xfrm>
          <a:prstGeom prst="rect">
            <a:avLst/>
          </a:prstGeom>
          <a:noFill/>
          <a:ln>
            <a:noFill/>
          </a:ln>
        </p:spPr>
      </p:pic>
      <p:sp>
        <p:nvSpPr>
          <p:cNvPr id="139" name="Google Shape;139;p23"/>
          <p:cNvSpPr txBox="1"/>
          <p:nvPr/>
        </p:nvSpPr>
        <p:spPr>
          <a:xfrm>
            <a:off x="6474225" y="1580700"/>
            <a:ext cx="2430000" cy="2722800"/>
          </a:xfrm>
          <a:prstGeom prst="rect">
            <a:avLst/>
          </a:prstGeom>
          <a:noFill/>
          <a:ln>
            <a:noFill/>
          </a:ln>
        </p:spPr>
        <p:txBody>
          <a:bodyPr anchorCtr="0" anchor="t" bIns="91425" lIns="91425" spcFirstLastPara="1" rIns="91425" wrap="square" tIns="91425">
            <a:spAutoFit/>
          </a:bodyPr>
          <a:lstStyle/>
          <a:p>
            <a:pPr indent="0" lvl="0" marL="179705" rtl="0" algn="l">
              <a:lnSpc>
                <a:spcPct val="115833"/>
              </a:lnSpc>
              <a:spcBef>
                <a:spcPts val="0"/>
              </a:spcBef>
              <a:spcAft>
                <a:spcPts val="800"/>
              </a:spcAft>
              <a:buNone/>
            </a:pPr>
            <a:r>
              <a:rPr lang="es-419" sz="1200">
                <a:solidFill>
                  <a:schemeClr val="dk2"/>
                </a:solidFill>
                <a:latin typeface="Poppins"/>
                <a:ea typeface="Poppins"/>
                <a:cs typeface="Poppins"/>
                <a:sym typeface="Poppins"/>
              </a:rPr>
              <a:t>Aquí confirmamos que, en efecto, el precio por milla que se ve mayor en el viaje del viernes, es por la demanda de los usuarios, que creció ligeramente. Por ello incluso si se tiene la misma distancia, tipo de servicio y lugar de partida, el viaje del viernes es más 'valioso' a nivel monetario. </a:t>
            </a:r>
            <a:endParaRPr>
              <a:solidFill>
                <a:schemeClr val="dk2"/>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4"/>
          <p:cNvPicPr preferRelativeResize="0"/>
          <p:nvPr/>
        </p:nvPicPr>
        <p:blipFill>
          <a:blip r:embed="rId3">
            <a:alphaModFix/>
          </a:blip>
          <a:stretch>
            <a:fillRect/>
          </a:stretch>
        </p:blipFill>
        <p:spPr>
          <a:xfrm>
            <a:off x="0" y="0"/>
            <a:ext cx="9144001" cy="888086"/>
          </a:xfrm>
          <a:prstGeom prst="rect">
            <a:avLst/>
          </a:prstGeom>
          <a:noFill/>
          <a:ln>
            <a:noFill/>
          </a:ln>
        </p:spPr>
      </p:pic>
      <p:pic>
        <p:nvPicPr>
          <p:cNvPr id="145" name="Google Shape;145;p24"/>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
        <p:nvSpPr>
          <p:cNvPr id="146" name="Google Shape;146;p24"/>
          <p:cNvSpPr txBox="1"/>
          <p:nvPr>
            <p:ph type="ctrTitle"/>
          </p:nvPr>
        </p:nvSpPr>
        <p:spPr>
          <a:xfrm>
            <a:off x="311700" y="841809"/>
            <a:ext cx="8520600" cy="7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sz="3400">
                <a:latin typeface="Staatliches"/>
                <a:ea typeface="Staatliches"/>
                <a:cs typeface="Staatliches"/>
                <a:sym typeface="Staatliches"/>
              </a:rPr>
              <a:t>Análisis de variación de precio por factores geográficos</a:t>
            </a:r>
            <a:endParaRPr sz="2700">
              <a:solidFill>
                <a:srgbClr val="1155CC"/>
              </a:solidFill>
              <a:latin typeface="Staatliches"/>
              <a:ea typeface="Staatliches"/>
              <a:cs typeface="Staatliches"/>
              <a:sym typeface="Staatliches"/>
            </a:endParaRPr>
          </a:p>
        </p:txBody>
      </p:sp>
      <p:pic>
        <p:nvPicPr>
          <p:cNvPr id="147" name="Google Shape;147;p24"/>
          <p:cNvPicPr preferRelativeResize="0"/>
          <p:nvPr/>
        </p:nvPicPr>
        <p:blipFill>
          <a:blip r:embed="rId4">
            <a:alphaModFix/>
          </a:blip>
          <a:stretch>
            <a:fillRect/>
          </a:stretch>
        </p:blipFill>
        <p:spPr>
          <a:xfrm>
            <a:off x="1913800" y="1440985"/>
            <a:ext cx="5316400" cy="3305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5"/>
          <p:cNvPicPr preferRelativeResize="0"/>
          <p:nvPr/>
        </p:nvPicPr>
        <p:blipFill>
          <a:blip r:embed="rId3">
            <a:alphaModFix/>
          </a:blip>
          <a:stretch>
            <a:fillRect/>
          </a:stretch>
        </p:blipFill>
        <p:spPr>
          <a:xfrm>
            <a:off x="0" y="0"/>
            <a:ext cx="9144001" cy="888086"/>
          </a:xfrm>
          <a:prstGeom prst="rect">
            <a:avLst/>
          </a:prstGeom>
          <a:noFill/>
          <a:ln>
            <a:noFill/>
          </a:ln>
        </p:spPr>
      </p:pic>
      <p:pic>
        <p:nvPicPr>
          <p:cNvPr id="153" name="Google Shape;153;p25"/>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
        <p:nvSpPr>
          <p:cNvPr id="154" name="Google Shape;154;p25"/>
          <p:cNvSpPr txBox="1"/>
          <p:nvPr>
            <p:ph type="ctrTitle"/>
          </p:nvPr>
        </p:nvSpPr>
        <p:spPr>
          <a:xfrm>
            <a:off x="311700" y="841809"/>
            <a:ext cx="8520600" cy="7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sz="3400">
                <a:latin typeface="Staatliches"/>
                <a:ea typeface="Staatliches"/>
                <a:cs typeface="Staatliches"/>
                <a:sym typeface="Staatliches"/>
              </a:rPr>
              <a:t>Análisis de variación de precio por factores geográficos</a:t>
            </a:r>
            <a:endParaRPr sz="2700">
              <a:solidFill>
                <a:srgbClr val="1155CC"/>
              </a:solidFill>
              <a:latin typeface="Staatliches"/>
              <a:ea typeface="Staatliches"/>
              <a:cs typeface="Staatliches"/>
              <a:sym typeface="Staatliches"/>
            </a:endParaRPr>
          </a:p>
        </p:txBody>
      </p:sp>
      <p:pic>
        <p:nvPicPr>
          <p:cNvPr id="155" name="Google Shape;155;p25"/>
          <p:cNvPicPr preferRelativeResize="0"/>
          <p:nvPr/>
        </p:nvPicPr>
        <p:blipFill>
          <a:blip r:embed="rId4">
            <a:alphaModFix/>
          </a:blip>
          <a:stretch>
            <a:fillRect/>
          </a:stretch>
        </p:blipFill>
        <p:spPr>
          <a:xfrm>
            <a:off x="1846050" y="1466900"/>
            <a:ext cx="5451900" cy="3241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6"/>
          <p:cNvPicPr preferRelativeResize="0"/>
          <p:nvPr/>
        </p:nvPicPr>
        <p:blipFill>
          <a:blip r:embed="rId3">
            <a:alphaModFix/>
          </a:blip>
          <a:stretch>
            <a:fillRect/>
          </a:stretch>
        </p:blipFill>
        <p:spPr>
          <a:xfrm>
            <a:off x="0" y="0"/>
            <a:ext cx="9144001" cy="888086"/>
          </a:xfrm>
          <a:prstGeom prst="rect">
            <a:avLst/>
          </a:prstGeom>
          <a:noFill/>
          <a:ln>
            <a:noFill/>
          </a:ln>
        </p:spPr>
      </p:pic>
      <p:pic>
        <p:nvPicPr>
          <p:cNvPr id="161" name="Google Shape;161;p26"/>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
        <p:nvSpPr>
          <p:cNvPr id="162" name="Google Shape;162;p26"/>
          <p:cNvSpPr txBox="1"/>
          <p:nvPr>
            <p:ph type="ctrTitle"/>
          </p:nvPr>
        </p:nvSpPr>
        <p:spPr>
          <a:xfrm>
            <a:off x="311700" y="841809"/>
            <a:ext cx="8520600" cy="7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sz="3400">
                <a:latin typeface="Staatliches"/>
                <a:ea typeface="Staatliches"/>
                <a:cs typeface="Staatliches"/>
                <a:sym typeface="Staatliches"/>
              </a:rPr>
              <a:t>Análisis de variación de precio por factores geográficos</a:t>
            </a:r>
            <a:endParaRPr sz="2700">
              <a:solidFill>
                <a:srgbClr val="1155CC"/>
              </a:solidFill>
              <a:latin typeface="Staatliches"/>
              <a:ea typeface="Staatliches"/>
              <a:cs typeface="Staatliches"/>
              <a:sym typeface="Staatliches"/>
            </a:endParaRPr>
          </a:p>
        </p:txBody>
      </p:sp>
      <p:pic>
        <p:nvPicPr>
          <p:cNvPr id="163" name="Google Shape;163;p26"/>
          <p:cNvPicPr preferRelativeResize="0"/>
          <p:nvPr/>
        </p:nvPicPr>
        <p:blipFill>
          <a:blip r:embed="rId4">
            <a:alphaModFix/>
          </a:blip>
          <a:stretch>
            <a:fillRect/>
          </a:stretch>
        </p:blipFill>
        <p:spPr>
          <a:xfrm>
            <a:off x="481350" y="1500175"/>
            <a:ext cx="4579924" cy="3170724"/>
          </a:xfrm>
          <a:prstGeom prst="rect">
            <a:avLst/>
          </a:prstGeom>
          <a:noFill/>
          <a:ln>
            <a:noFill/>
          </a:ln>
        </p:spPr>
      </p:pic>
      <p:sp>
        <p:nvSpPr>
          <p:cNvPr id="164" name="Google Shape;164;p26"/>
          <p:cNvSpPr txBox="1"/>
          <p:nvPr/>
        </p:nvSpPr>
        <p:spPr>
          <a:xfrm>
            <a:off x="5415525" y="1670050"/>
            <a:ext cx="3000000" cy="1334700"/>
          </a:xfrm>
          <a:prstGeom prst="rect">
            <a:avLst/>
          </a:prstGeom>
          <a:noFill/>
          <a:ln>
            <a:noFill/>
          </a:ln>
        </p:spPr>
        <p:txBody>
          <a:bodyPr anchorCtr="0" anchor="t" bIns="91425" lIns="91425" spcFirstLastPara="1" rIns="91425" wrap="square" tIns="91425">
            <a:spAutoFit/>
          </a:bodyPr>
          <a:lstStyle/>
          <a:p>
            <a:pPr indent="-285750" lvl="0" marL="457200" rtl="0" algn="l">
              <a:lnSpc>
                <a:spcPct val="115833"/>
              </a:lnSpc>
              <a:spcBef>
                <a:spcPts val="0"/>
              </a:spcBef>
              <a:spcAft>
                <a:spcPts val="800"/>
              </a:spcAft>
              <a:buClr>
                <a:schemeClr val="dk2"/>
              </a:buClr>
              <a:buSzPts val="900"/>
              <a:buFont typeface="Poppins"/>
              <a:buChar char="●"/>
            </a:pPr>
            <a:r>
              <a:rPr lang="es-419" sz="1100">
                <a:solidFill>
                  <a:schemeClr val="dk2"/>
                </a:solidFill>
                <a:latin typeface="Poppins"/>
                <a:ea typeface="Poppins"/>
                <a:cs typeface="Poppins"/>
                <a:sym typeface="Poppins"/>
              </a:rPr>
              <a:t>Podemos decir que la distancia es el mayor motor del precio, puesto que como vimos, eso es lo que genera más ingresos incluso si su valor por milla es menor.</a:t>
            </a:r>
            <a:endParaRPr sz="1300">
              <a:solidFill>
                <a:schemeClr val="dk2"/>
              </a:solidFill>
              <a:latin typeface="Poppins"/>
              <a:ea typeface="Poppins"/>
              <a:cs typeface="Poppins"/>
              <a:sym typeface="Poppins"/>
            </a:endParaRPr>
          </a:p>
        </p:txBody>
      </p:sp>
      <p:sp>
        <p:nvSpPr>
          <p:cNvPr id="165" name="Google Shape;165;p26"/>
          <p:cNvSpPr txBox="1"/>
          <p:nvPr/>
        </p:nvSpPr>
        <p:spPr>
          <a:xfrm>
            <a:off x="5415525" y="2943825"/>
            <a:ext cx="3000000" cy="1530600"/>
          </a:xfrm>
          <a:prstGeom prst="rect">
            <a:avLst/>
          </a:prstGeom>
          <a:noFill/>
          <a:ln>
            <a:noFill/>
          </a:ln>
        </p:spPr>
        <p:txBody>
          <a:bodyPr anchorCtr="0" anchor="t" bIns="91425" lIns="91425" spcFirstLastPara="1" rIns="91425" wrap="square" tIns="91425">
            <a:spAutoFit/>
          </a:bodyPr>
          <a:lstStyle/>
          <a:p>
            <a:pPr indent="-285750" lvl="0" marL="457200" rtl="0" algn="l">
              <a:lnSpc>
                <a:spcPct val="115833"/>
              </a:lnSpc>
              <a:spcBef>
                <a:spcPts val="0"/>
              </a:spcBef>
              <a:spcAft>
                <a:spcPts val="800"/>
              </a:spcAft>
              <a:buClr>
                <a:schemeClr val="dk2"/>
              </a:buClr>
              <a:buSzPts val="900"/>
              <a:buFont typeface="Poppins"/>
              <a:buChar char="●"/>
            </a:pPr>
            <a:r>
              <a:rPr lang="es-419" sz="1100">
                <a:solidFill>
                  <a:schemeClr val="dk2"/>
                </a:solidFill>
                <a:latin typeface="Poppins"/>
                <a:ea typeface="Poppins"/>
                <a:cs typeface="Poppins"/>
                <a:sym typeface="Poppins"/>
              </a:rPr>
              <a:t>Tenemos otro enfoque, que es el precio por milla, indicándonos la rentabilidad de un viaje, maximizando precios por la distancia, normalmente causado por alta congestión o costo de tiempo. </a:t>
            </a:r>
            <a:endParaRPr sz="1300">
              <a:solidFill>
                <a:schemeClr val="dk2"/>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7"/>
          <p:cNvPicPr preferRelativeResize="0"/>
          <p:nvPr/>
        </p:nvPicPr>
        <p:blipFill>
          <a:blip r:embed="rId3">
            <a:alphaModFix/>
          </a:blip>
          <a:stretch>
            <a:fillRect/>
          </a:stretch>
        </p:blipFill>
        <p:spPr>
          <a:xfrm>
            <a:off x="0" y="0"/>
            <a:ext cx="9144001" cy="888086"/>
          </a:xfrm>
          <a:prstGeom prst="rect">
            <a:avLst/>
          </a:prstGeom>
          <a:noFill/>
          <a:ln>
            <a:noFill/>
          </a:ln>
        </p:spPr>
      </p:pic>
      <p:pic>
        <p:nvPicPr>
          <p:cNvPr id="171" name="Google Shape;171;p27"/>
          <p:cNvPicPr preferRelativeResize="0"/>
          <p:nvPr/>
        </p:nvPicPr>
        <p:blipFill rotWithShape="1">
          <a:blip r:embed="rId3">
            <a:alphaModFix/>
          </a:blip>
          <a:srcRect b="86395" l="0" r="0" t="14"/>
          <a:stretch/>
        </p:blipFill>
        <p:spPr>
          <a:xfrm>
            <a:off x="0" y="4747975"/>
            <a:ext cx="9144000" cy="231076"/>
          </a:xfrm>
          <a:prstGeom prst="rect">
            <a:avLst/>
          </a:prstGeom>
          <a:noFill/>
          <a:ln>
            <a:noFill/>
          </a:ln>
        </p:spPr>
      </p:pic>
      <p:sp>
        <p:nvSpPr>
          <p:cNvPr id="172" name="Google Shape;172;p27"/>
          <p:cNvSpPr txBox="1"/>
          <p:nvPr>
            <p:ph type="ctrTitle"/>
          </p:nvPr>
        </p:nvSpPr>
        <p:spPr>
          <a:xfrm>
            <a:off x="311700" y="946470"/>
            <a:ext cx="8520600" cy="738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sz="3400">
                <a:latin typeface="Staatliches"/>
                <a:ea typeface="Staatliches"/>
                <a:cs typeface="Staatliches"/>
                <a:sym typeface="Staatliches"/>
              </a:rPr>
              <a:t>COnclusiones</a:t>
            </a:r>
            <a:endParaRPr sz="2700">
              <a:solidFill>
                <a:srgbClr val="1155CC"/>
              </a:solidFill>
              <a:latin typeface="Staatliches"/>
              <a:ea typeface="Staatliches"/>
              <a:cs typeface="Staatliches"/>
              <a:sym typeface="Staatliches"/>
            </a:endParaRPr>
          </a:p>
        </p:txBody>
      </p:sp>
      <p:sp>
        <p:nvSpPr>
          <p:cNvPr id="173" name="Google Shape;173;p27"/>
          <p:cNvSpPr txBox="1"/>
          <p:nvPr>
            <p:ph idx="1" type="subTitle"/>
          </p:nvPr>
        </p:nvSpPr>
        <p:spPr>
          <a:xfrm>
            <a:off x="311700" y="1743767"/>
            <a:ext cx="7518300" cy="792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Poppins"/>
              <a:buChar char="●"/>
            </a:pPr>
            <a:r>
              <a:rPr lang="es-419" sz="1100">
                <a:latin typeface="Poppins"/>
                <a:ea typeface="Poppins"/>
                <a:cs typeface="Poppins"/>
                <a:sym typeface="Poppins"/>
              </a:rPr>
              <a:t>Podemos decir que la distancia es el mayor motor del precio, puesto que como vimos, eso es lo que genera más ingresos incluso si su valor por milla es menor</a:t>
            </a:r>
            <a:endParaRPr sz="1100">
              <a:latin typeface="Poppins"/>
              <a:ea typeface="Poppins"/>
              <a:cs typeface="Poppins"/>
              <a:sym typeface="Poppins"/>
            </a:endParaRPr>
          </a:p>
          <a:p>
            <a:pPr indent="-298450" lvl="0" marL="457200" rtl="0" algn="l">
              <a:spcBef>
                <a:spcPts val="0"/>
              </a:spcBef>
              <a:spcAft>
                <a:spcPts val="0"/>
              </a:spcAft>
              <a:buSzPts val="1100"/>
              <a:buFont typeface="Poppins"/>
              <a:buChar char="●"/>
            </a:pPr>
            <a:r>
              <a:rPr lang="es-419" sz="1100">
                <a:latin typeface="Poppins"/>
                <a:ea typeface="Poppins"/>
                <a:cs typeface="Poppins"/>
                <a:sym typeface="Poppins"/>
              </a:rPr>
              <a:t>Tenemos otro enfoque, que es el precio por milla, indicándonos la rentabilidad de un viaje, maximizando precios por la distancia, normalmente causado por alta congestión o costo de tiempo.</a:t>
            </a:r>
            <a:endParaRPr sz="1100">
              <a:latin typeface="Poppins"/>
              <a:ea typeface="Poppins"/>
              <a:cs typeface="Poppins"/>
              <a:sym typeface="Poppins"/>
            </a:endParaRPr>
          </a:p>
          <a:p>
            <a:pPr indent="-298450" lvl="0" marL="457200" rtl="0" algn="l">
              <a:spcBef>
                <a:spcPts val="0"/>
              </a:spcBef>
              <a:spcAft>
                <a:spcPts val="0"/>
              </a:spcAft>
              <a:buSzPts val="1100"/>
              <a:buFont typeface="Poppins"/>
              <a:buChar char="●"/>
            </a:pPr>
            <a:r>
              <a:rPr lang="es-419" sz="1100">
                <a:latin typeface="Poppins"/>
                <a:ea typeface="Poppins"/>
                <a:cs typeface="Poppins"/>
                <a:sym typeface="Poppins"/>
              </a:rPr>
              <a:t>El multiplicador para tarifa dinámica es una herramienta clave para estabilizar la oferta ante los picos de demanda por parte de los usuarios. </a:t>
            </a:r>
            <a:endParaRPr sz="1100">
              <a:latin typeface="Poppins"/>
              <a:ea typeface="Poppins"/>
              <a:cs typeface="Poppins"/>
              <a:sym typeface="Poppins"/>
            </a:endParaRPr>
          </a:p>
          <a:p>
            <a:pPr indent="-298450" lvl="0" marL="457200" rtl="0" algn="l">
              <a:spcBef>
                <a:spcPts val="0"/>
              </a:spcBef>
              <a:spcAft>
                <a:spcPts val="0"/>
              </a:spcAft>
              <a:buSzPts val="1100"/>
              <a:buFont typeface="Poppins"/>
              <a:buChar char="●"/>
            </a:pPr>
            <a:r>
              <a:rPr lang="es-419" sz="1100">
                <a:latin typeface="Poppins"/>
                <a:ea typeface="Poppins"/>
                <a:cs typeface="Poppins"/>
                <a:sym typeface="Poppins"/>
              </a:rPr>
              <a:t>El punto más importante de una empresa de viajes en este caso podemos observar que son las rutas con precios moderados, generalmente cortas o medias.</a:t>
            </a:r>
            <a:endParaRPr sz="1100">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